
<file path=[Content_Types].xml><?xml version="1.0" encoding="utf-8"?>
<Types xmlns="http://schemas.openxmlformats.org/package/2006/content-types">
  <Default ContentType="image/jpeg" Extension="jpg"/>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Default Extension="mp4" ContentType="video/mp4"/>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6" Type="http://schemas.openxmlformats.org/officeDocument/2006/relationships/slide" Target="slides/slide1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3ebe4bc1de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3ebe4bc1de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g3ebe4bc1deb_3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g3ebe4bc1deb_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g3ebe4bc1deb_6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 name="Google Shape;62;g3ebe4bc1deb_6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3ebe4bc1deb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 name="Google Shape;67;g3ebe4bc1deb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3ebe4bc1deb_6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3ebe4bc1deb_6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3ebe4bc1deb_3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3ebe4bc1deb_3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ebe4bc1deb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ebe4bc1deb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3ebe4bc1deb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3ebe4bc1deb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3ebe4bc1deb_3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3ebe4bc1deb_3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ebe4bc1deb_3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3ebe4bc1deb_3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ebe4bc1deb_3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3ebe4bc1deb_3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 Id="rId3" Type="http://schemas.openxmlformats.org/officeDocument/2006/relationships/image" Target="../media/image7.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 Id="rId3" Type="http://schemas.openxmlformats.org/officeDocument/2006/relationships/image" Target="../media/image3.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 Id="rId3" Type="http://schemas.openxmlformats.org/officeDocument/2006/relationships/image" Target="../media/image9.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 Id="rId3" Type="http://schemas.openxmlformats.org/officeDocument/2006/relationships/image" Target="../media/image11.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 Id="rId3" Type="http://schemas.openxmlformats.org/officeDocument/2006/relationships/image" Target="../media/image4.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 Id="rId3" Type="http://schemas.openxmlformats.org/officeDocument/2006/relationships/image" Target="../media/image10.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 Id="rId3" Type="http://schemas.openxmlformats.org/officeDocument/2006/relationships/image" Target="../media/image6.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 Id="rId3" Type="http://schemas.openxmlformats.org/officeDocument/2006/relationships/image" Target="../media/image5.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 Id="rId3" Type="http://schemas.openxmlformats.org/officeDocument/2006/relationships/image" Target="../media/image8.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 Id="rId3" Type="http://schemas.openxmlformats.org/officeDocument/2006/relationships/image" Target="../media/image2.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 Id="rId3" Type="http://schemas.openxmlformats.org/officeDocument/2006/relationships/hyperlink" Target="http://drive.google.com/file/d/1cQypbG34RA4ZwVLE-eZ7OT8aDC39gdpB/view" TargetMode="External"/><Relationship Id="rId4" Type="http://schemas.openxmlformats.org/officeDocument/2006/relationships/image" Target="../media/image1.jpg"/><Relationship Id="rId100" Type="http://schemas.openxmlformats.org/officeDocument/2006/relationships/video" Target="../media/media1.mp4"/><Relationship Id="rId101" Type="http://schemas.microsoft.com/office/2007/relationships/media" Target="../media/media1.mp4"/></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pic>
        <p:nvPicPr>
          <p:cNvPr descr="Create one 16:9 widescreen presentation slide, flat vector infographic style, clean and professional. This is a slide for the Orbis project (a university CMPE 492 senior-design system). IMPORTANT: the ONLY heading on the slide is the exact &quot;Title bar text&quot; given in the per-slide prompt — do NOT invent a title, do NOT use this description as a heading, do NOT write the words &quot;university senior-design project&quot; anywhere on the slide. Background: solid warm white #F8FAFC, no gradients, no photos, no decorative blobs, no drop shadows. Text color dark ink #1F2933; secondary labels gray #64748B; thin divider/borders #CBD5E1. Cards are white #FFFFFF rounded rectangles, 8px corners, 1.5px border. Use a modern sans-serif (Inter/Arial). Color meaning is FIXED across all slides: Orbis blue #2563A9 = system/backend/ database; teal #0F766E = AI/RAG/LLM; gold #B7791F = student-facing action/ notification; green #2F855A = accepted/correct/approved; red #B42318 = risk/ rejected/error; neutral gray #E2E8F0 = raw sources/data. Layout: a thin top title bar with the slide title on the top-left, a small &quot;Orbis | CMPE 492&quot; tag bottom-left, and the slide number bottom-right. Generous whitespace. Title ~36pt, body labels ≥20pt, big metric numbers bold. Reproduce all provided text EXACTLY; do not invent extra text, do not translate, do not change any number. Use clean line icons next to stages where they aid meaning (database, funnel, document, web page, PDF, shield/guardrail, router, brain/AI, bell, check, warning); icons support the labels, they never replace required text. Where a slide marks itself a &quot;detailed&quot; or &quot;showcase&quot; slide, density is intended — fill the canvas and show every stage rather than simplifying.&#10;&#10;Title / cover slide. LEFT 55% of the canvas: very large product wordmark &quot;Orbis&quot; (≈80pt, Orbis blue), and directly under it the subtitle &quot;An Intelligent Academic Support System with AI and RAG&quot; (≈26pt, dark ink). Below the subtitle, a thin horizontal divider, then four stacked small lines (≈20pt): &quot;Atakan Gül — 121200152&quot;, &quot;Arda Kaan Yıldız — 122200045&quot;, &quot;Supervisor: Özgür Özdemir&quot;, &quot;Istanbul Bilgi University · Faculty of Engineering and Natural Sciences · CMPE 492 · June 2026&quot;. RIGHT 45%: a simple horizontal 3-step ribbon of three rounded cards connected by arrows: card 1 neutral-gray labeled &quot;University sources&quot;, arrow, card 2 blue labeled &quot;Orbis&quot;, arrow, card 3 gold labeled &quot;Student action&quot;. Under the ribbon, one italic tagline (≈22pt, gray): &quot;Turning scattered information into actionable, traceable guidance.&quot; Keep it calm and uncluttered." id="54" name="Google Shape;54;p13"/>
          <p:cNvPicPr preferRelativeResize="0"/>
          <p:nvPr/>
        </p:nvPicPr>
        <p:blipFill>
          <a:blip r:embed="rId3">
            <a:alphaModFix/>
          </a:blip>
          <a:stretch>
            <a:fillRect/>
          </a:stretch>
        </p:blipFill>
        <p:spPr>
          <a:xfrm>
            <a:off x="-35700" y="0"/>
            <a:ext cx="9210675" cy="51435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pic>
        <p:nvPicPr>
          <p:cNvPr descr="Create one 16:9 widescreen presentation slide, flat vector infographic style, clean and professional. This is a slide for the Orbis project (a university CMPE 492 senior-design system). IMPORTANT: the ONLY heading on the slide is the exact &quot;Title bar text&quot; given in the per-slide prompt — do NOT invent a title, do NOT use this description as a heading, do NOT write the words &quot;university senior-design project&quot; anywhere on the slide. Background: solid warm white #F8FAFC, no gradients, no photos, no decorative blobs, no drop shadows. Text color dark ink #1F2933; secondary labels gray #64748B; thin divider/borders #CBD5E1. Cards are white #FFFFFF rounded rectangles, 8px corners, 1.5px border. Use a modern sans-serif (Inter/Arial). Color meaning is FIXED across all slides: Orbis blue #2563A9 = system/backend/ database; teal #0F766E = AI/RAG/LLM; gold #B7791F = student-facing action/ notification; green #2F855A = accepted/correct/approved; red #B42318 = risk/ rejected/error; neutral gray #E2E8F0 = raw sources/data. Layout: a thin top title bar with the slide title on the top-left, a small &quot;Orbis | CMPE 492&quot; tag bottom-left, and the slide number bottom-right. Generous whitespace. Title ~36pt, body labels ≥20pt, big metric numbers bold. Reproduce all provided text EXACTLY; do not invent extra text, do not translate, do not change any number. Use clean line icons next to stages where they aid meaning (database, funnel, document, web page, PDF, shield/guardrail, router, brain/AI, bell, check, warning); icons support the labels, they never replace required text. Where a slide marks itself a &quot;detailed&quot; or &quot;showcase&quot; slide, density is intended — fill the canvas and show every stage rather than simplifying.&#10;&#10;Problem slide, two zones. LEFT: a &quot;fragmented source map&quot; — five small neutral-gray cards scattered (not aligned in a neat grid, slightly offset to feel fragmented), each with a tiny line icon and a label: &quot;SIS&quot;, &quot;Course catalog&quot;, &quot;Regulation PDFs&quot;, &quot;Announcements&quot;, &quot;Student handbook&quot;. CENTER-RIGHT: a single gold circle labeled &quot;Student&quot;, with TWO red dashed arrows pointing away from it toward empty space, each arrow labeled with a question in a red-bordered tag: arrow 1 = &quot;What applies to me?&quot;, arrow 2 = &quot;When should I act?&quot;. BOTTOM strip: four short bullet lines (≈20pt, dark ink), each with a small gray dot: &quot;Rules are scattered across many systems&quot;, &quot;Students don't always know what to ask&quot;, &quot;Portals store records, they don't interpret them&quot;, &quot;The hardest obligations are the ones you never think to ask about&quot;. Minimal text, lots of whitespace. The visual must communicate fragmentation + two missing bridges." id="59" name="Google Shape;59;p14"/>
          <p:cNvPicPr preferRelativeResize="0"/>
          <p:nvPr/>
        </p:nvPicPr>
        <p:blipFill>
          <a:blip r:embed="rId3">
            <a:alphaModFix/>
          </a:blip>
          <a:stretch>
            <a:fillRect/>
          </a:stretch>
        </p:blipFill>
        <p:spPr>
          <a:xfrm>
            <a:off x="-35700" y="0"/>
            <a:ext cx="9210675" cy="51435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pic>
        <p:nvPicPr>
          <p:cNvPr descr="Create one 16:9 widescreen presentation slide, flat vector infographic style, clean and professional. This is a slide for the Orbis project (a university CMPE 492 senior-design system). IMPORTANT: the ONLY heading on the slide is the exact &quot;Title bar text&quot; given in the per-slide prompt — do NOT invent a title, do NOT use this description as a heading, do NOT write the words &quot;university senior-design project&quot; anywhere on the slide. Background: solid warm white #F8FAFC, no gradients, no photos, no decorative blobs, no drop shadows. Text color dark ink #1F2933; secondary labels gray #64748B; thin divider/borders #CBD5E1. Cards are white #FFFFFF rounded rectangles, 8px corners, 1.5px border. Use a modern sans-serif (Inter/Arial). Color meaning is FIXED across all slides: Orbis blue #2563A9 = system/backend/ database; teal #0F766E = AI/RAG/LLM; gold #B7791F = student-facing action/ notification; green #2F855A = accepted/correct/approved; red #B42318 = risk/ rejected/error; neutral gray #E2E8F0 = raw sources/data. Layout: a thin top title bar with the slide title on the top-left, a small &quot;Orbis | CMPE 492&quot; tag bottom-left, and the slide number bottom-right. Generous whitespace. Title ~36pt, body labels ≥20pt, big metric numbers bold. Reproduce all provided text EXACTLY; do not invent extra text, do not translate, do not change any number. Use clean line icons next to stages where they aid meaning (database, funnel, document, web page, PDF, shield/guardrail, router, brain/AI, bell, check, warning); icons support the labels, they never replace required text. Where a slide marks itself a &quot;detailed&quot; or &quot;showcase&quot; slide, density is intended — fill the canvas and show every stage rather than simplifying.&#10;&#10;NOTE: This is the SHOWCASE slide. Use the ENTIRE canvas, edge to edge, every pixel. It is a single connected pipeline read LEFT → RIGHT in four bands: (A) Data collection &amp; ingestion, (B) Taxonomy guardrail, (C) Shared store, (D) Three runtime paths → student outputs. Dense is GOOD here. The infographic engine is capable of complex multi-stage flow diagrams — produce a rich, detailed, professional system map, not a simple 3-card layout. Connect every stage with directional arrows so data visibly flows through the whole system. Reproduce every quoted number and label EXACTLY. One large, detailed left-to-right system pipeline infographic filling the whole 16:9 canvas. Four vertical bands separated by thin dividers, data flowing left to right with arrows crossing every boundary. Use line icons on stages. CRUCIAL: this slide must show not only WHAT each stage is but the KEY DESIGN DECISION behind it — render each decision as a tiny italic gray &quot;why&quot; annotation tag attached under its stage. Reproduce every quoted string exactly. BAND A — &quot;1 · Data collection &amp; ingestion&quot; (neutral gray, far left, with a web-page icon and a PDF icon on the sources): source chips &quot;80 official bilgi.edu.tr URLs&quot;, &quot;~12,600 web pages&quot;, &quot;~2,245 PDFs&quot;. Stage &quot;Crawl + filter (filter_pdfs.py)&quot; note &quot;1,595 kept · 315 discarded · 335 archived&quot; why-tag &quot;tenders &amp; result lists look like rules — excluded by URL + keyword&quot;. Stage &quot;Stopword-race language detect (≈65% TR / 35% EN)&quot; why-tag &quot;char-frequency failed on local addresses → count stopwords instead&quot;. Stage &quot;Semantic chunking — 150-word chunks, 30-word overlap&quot; why-tag &quot;overlap preserves cross-sentence rules&quot;. Stage &quot;MiniLM embed → 384-dim vectors (enriched: title + breadcrumb prepended)&quot; why-tag &quot;encode topic + category in one vector&quot;. Output arrow labeled &quot;60,649 raw chunks&quot;. BAND B — &quot;2 · Taxonomy guardrail (4 steps)&quot; (teal accents, shield icon on the band header): a vertical numbered 4-step flow, each with a why-tag: &quot;Step 1 — URL rule engine (semantic vs dynamic ratio)&quot; why-tag &quot;reject UUID / high-dynamic groups&quot;. &quot;Step 2 — Shannon-entropy tail signal → 74 KNOWN / 31 UNKNOWN groups&quot; why-tag &quot;low entropy = one template = dynamic; high entropy = real directory&quot;. &quot;Step 3 — MiniBatchKMeans + Ward HAC on 21,324 unknown docs → 52 clusters&quot; why-tag &quot;O(n) clustering scales to 60k+ chunks&quot;. &quot;Step 4 — LLM taxonomy mapping → 11 top categories · 125 leaves&quot;. End with a highlighted teal box &quot;Regex overlay → 935 regulatory chunks (29 leaves)&quot; why-tag &quot;separate binding rules from noise BEFORE any AI runs — bad taxonomy = bad obligations&quot;. BAND C — &quot;3 · Shared store&quot; (Orbis blue, center spine, database-cylinder icon): blue cylinder &quot;PostgreSQL + pgvector&quot; with index chips &quot;HNSW (vector, L2 distance)&quot; why-tag &quot;approx. nearest-neighbour, tuneable recall/speed&quot; and &quot;GIN (keyword TSVECTOR, TR/EN stemming)&quot; why-tag &quot;sub-ms full-text at 60k+ rows&quot;. Note &quot;one DB = shared memory for evidence, rules, assignments, logs&quot;. Arrows fan out to all three lanes. BAND D — &quot;4 · Three runtime paths → student&quot; (far right, three stacked lanes, each with a why-tag on its key decision): LANE 1 (teal, search icon) &quot;PULL · RAG chatbot&quot;: &quot;Router (4 tools: vector/sql/calendar/schedule)&quot; → &quot;Hybrid search TOP_K=30 (keyword-first merge)&quot; why" id="64" name="Google Shape;64;p15"/>
          <p:cNvPicPr preferRelativeResize="0"/>
          <p:nvPr/>
        </p:nvPicPr>
        <p:blipFill>
          <a:blip r:embed="rId3">
            <a:alphaModFix/>
          </a:blip>
          <a:stretch>
            <a:fillRect/>
          </a:stretch>
        </p:blipFill>
        <p:spPr>
          <a:xfrm>
            <a:off x="-35700" y="0"/>
            <a:ext cx="9210675" cy="51435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pic>
        <p:nvPicPr>
          <p:cNvPr descr="Create one 16:9 widescreen presentation slide, flat vector infographic style, clean and professional. This is a slide for the Orbis project (a university CMPE 492 senior-design system). IMPORTANT: the ONLY heading on the slide is the exact &quot;Title bar text&quot; given in the per-slide prompt — do NOT invent a title, do NOT use this description as a heading, do NOT write the words &quot;university senior-design project&quot; anywhere on the slide. Background: solid warm white #F8FAFC, no gradients, no photos, no decorative blobs, no drop shadows. Text color dark ink #1F2933; secondary labels gray #64748B; thin divider/borders #CBD5E1. Cards are white #FFFFFF rounded rectangles, 8px corners, 1.5px border. Use a modern sans-serif (Inter/Arial). Color meaning is FIXED across all slides: Orbis blue #2563A9 = system/backend/ database; teal #0F766E = AI/RAG/LLM; gold #B7791F = student-facing action/ notification; green #2F855A = accepted/correct/approved; red #B42318 = risk/ rejected/error; neutral gray #E2E8F0 = raw sources/data. Layout: a thin top title bar with the slide title on the top-left, a small &quot;Orbis | CMPE 492&quot; tag bottom-left, and the slide number bottom-right. Generous whitespace. Title ~36pt, body labels ≥20pt, big metric numbers bold. Reproduce all provided text EXACTLY; do not invent extra text, do not translate, do not change any number. Use clean line icons next to stages where they aid meaning (database, funnel, document, web page, PDF, shield/guardrail, router, brain/AI, bell, check, warning); icons support the labels, they never replace required text. Where a slide marks itself a &quot;detailed&quot; or &quot;showcase&quot; slide, density is intended — fill the canvas and show every stage rather than simplifying.&#10;&#10;NOTE: This slide is the COMPONENT/TECH view and must be visibly DIFFERENT from Slide 3 (which is the data-flow showcase). Here, show a layered architecture stack — Client → API → Services → Data/Infra — with the REAL technology behind each box (frameworks, models, providers, indexes, tables). Fill the canvas; this is a detailed engineering diagram. Reproduce every quoted string exactly. A layered system-architecture diagram with FOUR horizontal tiers stacked top to bottom, each tier a labeled band of component cards, with a thin vertical &quot;request flow&quot; arrow on the left spanning all tiers and a &quot;streamed response (SSE)&quot; arrow on the right going back up. Use the fixed color meaning. Put a small technology chip under each component. TIER 1 — &quot;Client&quot; (gray band): one card &quot;React / Vite student shell&quot; with sub-chips &quot;Chatbot&quot;, &quot;Dashboard&quot;, &quot;My Regulations&quot;, &quot;Submission review&quot;. Tech chip &quot;Server-Sent Events (token streaming)&quot;. TIER 2 — &quot;API — FastAPI (Python 3.10, Uvicorn)&quot; (blue band): a row of route cards in monospace: &quot;/api/chat&quot;, &quot;/api/search&quot;, &quot;/api/events/trigger&quot;, &quot;/api/regulations/me&quot;, &quot;/api/assignments/{id}/submit/stream&quot;, &quot;/api/sis/* (calendar, schedule)&quot;. Tech chip &quot;JWT auth · async dispatch&quot;. TIER 3 — &quot;Services / AI&quot; (three colored component cards side by side): CARD A (teal) &quot;RAG service&quot;: chips &quot;Router LLM — Groq llama-3.3-70b&quot;, &quot;Hybrid search&quot;, &quot;Jina reranker v2 (cross-encoder)&quot;, &quot;Smart Context Expansion&quot;, &quot;context_injectors.py (SIS)&quot;. CARD B (gold) &quot;Event service&quot;: chips &quot;EventPipelineOrchestrator&quot;, &quot;SearchAgent / ReasoningAgent / EventCreator&quot;, &quot;two-pass LLM review&quot;, &quot;SQL + contextual matcher&quot;. CARD C (green) &quot;Submission service&quot;: chips &quot;deterministic file gate&quot;, &quot;evaluate_submission&quot;, &quot;two-call LLM reviewer&quot;, &quot;flag_for_review&quot;. Under this tier a small note: &quot;LLM providers: Groq · Google Gemini · OpenAI-compatible (env-selectable)&quot;. TIER 4 — &quot;Data &amp; infrastructure&quot; (blue band): on the left a large database cylinder &quot;PostgreSQL + pgvector&quot; with two index chips &quot;HNSW index (vector, 384-dim, L2)&quot; and &quot;GIN index (TSVECTOR, TR/EN stemming)&quot;; beside it a column of table chips in monospace (≈16pt): &quot;knowledge_base&quot;, &quot;knowledge_base_embeddings&quot;, &quot;regulation_rules&quot;, &quot;user_rule_assignments&quot;, &quot;assignment_submissions&quot;, &quot;event_runs&quot;, &quot;event_candidate_logs&quot;, &quot;event_agent_logs&quot;. To the right, an &quot;Embedding infra&quot; card: chips &quot;MiniLM paraphrase-multilingual-L12-v2 (384-dim)&quot;, &quot;TEI container + Nginx load-balance&quot;, &quot;local Hugging Face fallback&quot;. BOTTOM caption strip (≈18pt, gray, full width): &quot;One PostgreSQL + pgvector instance is the shared memory for all three paths — relational schema and vector index in the same database&quot;. Keep tiers clearly separated, technology chips small under each component, and the request-down / SSE-response-up arrows visible. Detailed engineering view." id="69" name="Google Shape;69;p16"/>
          <p:cNvPicPr preferRelativeResize="0"/>
          <p:nvPr/>
        </p:nvPicPr>
        <p:blipFill>
          <a:blip r:embed="rId3">
            <a:alphaModFix/>
          </a:blip>
          <a:stretch>
            <a:fillRect/>
          </a:stretch>
        </p:blipFill>
        <p:spPr>
          <a:xfrm>
            <a:off x="-35700" y="0"/>
            <a:ext cx="9210675" cy="51435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pic>
        <p:nvPicPr>
          <p:cNvPr descr="Create one 16:9 widescreen presentation slide, flat vector infographic style, clean and professional. This is a slide for the Orbis project (a university CMPE 492 senior-design system). IMPORTANT: the ONLY heading on the slide is the exact &quot;Title bar text&quot; given in the per-slide prompt — do NOT invent a title, do NOT use this description as a heading, do NOT write the words &quot;university senior-design project&quot; anywhere on the slide. Background: solid warm white #F8FAFC, no gradients, no photos, no decorative blobs, no drop shadows. Text color dark ink #1F2933; secondary labels gray #64748B; thin divider/borders #CBD5E1. Cards are white #FFFFFF rounded rectangles, 8px corners, 1.5px border. Use a modern sans-serif (Inter/Arial). Color meaning is FIXED across all slides: Orbis blue #2563A9 = system/backend/ database; teal #0F766E = AI/RAG/LLM; gold #B7791F = student-facing action/ notification; green #2F855A = accepted/correct/approved; red #B42318 = risk/ rejected/error; neutral gray #E2E8F0 = raw sources/data. Layout: a thin top title bar with the slide title on the top-left, a small &quot;Orbis | CMPE 492&quot; tag bottom-left, and the slide number bottom-right. Generous whitespace. Title ~36pt, body labels ≥20pt, big metric numbers bold. Reproduce all provided text EXACTLY; do not invent extra text, do not translate, do not change any number. Use clean line icons next to stages where they aid meaning (database, funnel, document, web page, PDF, shield/guardrail, router, brain/AI, bell, check, warning); icons support the labels, they never replace required text. Where a slide marks itself a &quot;detailed&quot; or &quot;showcase&quot; slide, density is intended — fill the canvas and show every stage rather than simplifying.&#10;&#10;NOTE: Detailed slide. Top shows the SDP II progress; below it a dense challenge→resolution matrix with concrete evidence. Reproduce numbers exactly. Implementation-and-challenges slide in two zones. TOP ZONE — &quot;Progress in Senior Design Project II&quot; (thin blue band): a compact horizontal checklist of six green-checked items (≈18pt): &quot;Backend + all API routes completed&quot;, &quot;Taxonomy pipeline (125 leaves)&quot;, &quot;RAG chatbot end-to-end&quot;, &quot;Event pipeline + matching&quot;, &quot;Submission review agent&quot;, &quot;Gold-label evaluation harness&quot;. Tiny note on the right: &quot;built on the S1 foundation: scraping, embedding choice, DB&quot;. BOTTOM ZONE — a challenge→resolution matrix: FIVE rows, each three linked cells: a left RED-bordered &quot;Challenge&quot; card, a center GREEN-bordered &quot;How we solved it&quot; card, and a small right gray &quot;Evidence&quot; chip. Text ≈18-20pt, alignment perfectly consistent. Row 1 — Challenge &quot;Formal rules mixed with casual news/announcements&quot; | Solved &quot;4-step taxonomy guardrail isolates rules before any AI runs&quot; | Evidence &quot;935 regulatory chunks / 60,649&quot;. Row 2 — Challenge &quot;Vague, non-actionable obligations&quot; | Solved &quot;Two-pass adversarial LLM review (pass 2 removes stale/weak rules)&quot; | Evidence &quot;55% accepted · 45% rejected by design&quot;. Row 3 — Challenge &quot;65% of corpus is temporal news/events drowning answers&quot; | Solved &quot;Keyword-first hybrid search + 2-stage Jina rerank + Smart Context Expansion&quot; | Evidence &quot;0 temporal contamination in final context&quot;. Row 4 — Challenge &quot;Multi-article regulations fragmented across 150-word chunks&quot; | Solved &quot;Smart Context Expansion rebuilds full source document around top hits&quot; | Evidence &quot;8-step grade-appeal procedure recovered from 4 chunks&quot;. Row 5 — Challenge &quot;Prompt injection hidden inside uploaded files&quot; | Solved &quot;Two-call reviewer treats document as evidence, not instruction&quot; | Evidence &quot;injection resistance 1/4 → 4/4&quot;. BOTTOM, one full-width gray strip with a small shield icon (≈18pt): &quot;Every decision is logged and auditable (event_candidate_logs · event_agent_logs)&quot;. Use RED only on the Challenge card borders." id="74" name="Google Shape;74;p17"/>
          <p:cNvPicPr preferRelativeResize="0"/>
          <p:nvPr/>
        </p:nvPicPr>
        <p:blipFill>
          <a:blip r:embed="rId3">
            <a:alphaModFix/>
          </a:blip>
          <a:stretch>
            <a:fillRect/>
          </a:stretch>
        </p:blipFill>
        <p:spPr>
          <a:xfrm>
            <a:off x="-35700" y="0"/>
            <a:ext cx="9210675" cy="51435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pic>
        <p:nvPicPr>
          <p:cNvPr descr="Create one 16:9 widescreen presentation slide, flat vector infographic style, clean and professional. This is a slide for the Orbis project (a university CMPE 492 senior-design system). IMPORTANT: the ONLY heading on the slide is the exact &quot;Title bar text&quot; given in the per-slide prompt — do NOT invent a title, do NOT use this description as a heading, do NOT write the words &quot;university senior-design project&quot; anywhere on the slide. Background: solid warm white #F8FAFC, no gradients, no photos, no decorative blobs, no drop shadows. Text color dark ink #1F2933; secondary labels gray #64748B; thin divider/borders #CBD5E1. Cards are white #FFFFFF rounded rectangles, 8px corners, 1.5px border. Use a modern sans-serif (Inter/Arial). Color meaning is FIXED across all slides: Orbis blue #2563A9 = system/backend/ database; teal #0F766E = AI/RAG/LLM; gold #B7791F = student-facing action/ notification; green #2F855A = accepted/correct/approved; red #B42318 = risk/ rejected/error; neutral gray #E2E8F0 = raw sources/data. Layout: a thin top title bar with the slide title on the top-left, a small &quot;Orbis | CMPE 492&quot; tag bottom-left, and the slide number bottom-right. Generous whitespace. Title ~36pt, body labels ≥20pt, big metric numbers bold. Reproduce all provided text EXACTLY; do not invent extra text, do not translate, do not change any number. Use clean line icons next to stages where they aid meaning (database, funnel, document, web page, PDF, shield/guardrail, router, brain/AI, bell, check, warning); icons support the labels, they never replace required text. Where a slide marks itself a &quot;detailed&quot; or &quot;showcase&quot; slide, density is intended — fill the canvas and show every stage rather than simplifying.&#10;&#10;NOTE: This is a DENSE data slide. Every number below must appear EXACTLY. Lay it out as a tight 2-row grid of cards; small fonts are acceptable here (down to ~16pt for stat labels) but every digit must remain legible. Do not drop, round, or merge any value. If the generator cannot fit all text, prefer shrinking whitespace over deleting numbers. Dense evaluation dashboard slide. Arrange FOUR cards: a wide top card spanning full width, then a row of THREE cards beneath it. TOP WIDE CARD (teal heading &quot;RAG chatbot — 100-query bilingual benchmark, 7 routing categories&quot;): a single row of four big bold stats with labels under each: &quot;92.3%&quot; label &quot;Routing accuracy&quot;, &quot;94.7%&quot; label &quot;Context recall&quot;, &quot;0.94&quot; label &quot;MRR&quot;, &quot;97.6%&quot; label &quot;Semantic accuracy&quot;. To the right of those, a thin separated sub-box (gray heading &quot;Embedding benchmark&quot;): two small stats &quot;70.8%&quot; label &quot;Best top-3 (TEI MiniLM, 100-word)&quot; and &quot;0.571&quot; label &quot;Best MRR&quot;, with a tiny note &quot;justifies model + chunk size&quot;. BOTTOM-LEFT CARD (teal heading &quot;Event extraction&quot;, sublabel &quot;323 candidates · gold-labeled&quot;): a row of four stats &quot;0.978&quot; label &quot;Precision&quot;, &quot;0.574&quot; label &quot;Recall&quot;, &quot;0.723&quot; label &quot;F1&quot;, &quot;0.588&quot; label &quot;Accuracy&quot;. Under them a tiny 2x2 confusion grid labeled &quot;Confusion (N=323)&quot;: top row &quot;Accept&quot; cells &quot;174 TP&quot; (green) and &quot;4 FP&quot; (red); bottom row &quot;Reject&quot; cells &quot;129 FN&quot; (red) and &quot;16 TN&quot;. Add a small green tag &quot;Very precise — avoids bad obligations&quot;. BOTTOM-CENTER CARD (gold heading &quot;Assignment matching&quot;, sublabel &quot;712 pairs = 4 profiles × 178 obligations&quot;): a row of three stats &quot;0.608&quot; label &quot;Precision&quot;, &quot;0.446&quot; label &quot;Recall&quot;, &quot;0.514&quot; label &quot;F1&quot;. Below, a tiny 4-row table headed &quot;Per profile (P / R / F1)&quot;: &quot;P1&quot; &quot;0.548 / 0.469 / 0.505&quot;, &quot;P2&quot; &quot;0.667 / 0.358 / 0.466&quot;, &quot;P3&quot; &quot;0.650 / 0.500 / 0.565&quot;, &quot;P4&quot; &quot;0.553 / 0.457 / 0.500&quot;. Add a RED tag &quot;Weakest layer — clear next target&quot;. BOTTOM-RIGHT CARD (blue heading &quot;Pipeline funnel&quot;): a vertical mini-funnel of five stacked rows, each &quot;number — label&quot;: &quot;80 — sources (run in 59 min)&quot;, &quot;935 — KB chunks consumed&quot;, &quot;323 — candidate rules&quot;, &quot;178 — accepted (55%)&quot; (green), &quot;145 — rejected (45%)&quot; (gray, note &quot;specificity filter&quot;). BOTTOM caption strip (≈16pt, gray, full width): &quot;All scored against author-validated gold ground truth (323 candidates + 712 pairs manually labeled)&quot;. Use RED only on: the 4 FP / 129 FN confusion cells and the matching weakness tag." id="79" name="Google Shape;79;p18"/>
          <p:cNvPicPr preferRelativeResize="0"/>
          <p:nvPr/>
        </p:nvPicPr>
        <p:blipFill>
          <a:blip r:embed="rId3">
            <a:alphaModFix/>
          </a:blip>
          <a:stretch>
            <a:fillRect/>
          </a:stretch>
        </p:blipFill>
        <p:spPr>
          <a:xfrm>
            <a:off x="-35700" y="0"/>
            <a:ext cx="9210675" cy="51435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pic>
        <p:nvPicPr>
          <p:cNvPr descr="Create one 16:9 widescreen presentation slide, flat vector infographic style, clean and professional. This is a slide for the Orbis project (a university CMPE 492 senior-design system). IMPORTANT: the ONLY heading on the slide is the exact &quot;Title bar text&quot; given in the per-slide prompt — do NOT invent a title, do NOT use this description as a heading, do NOT write the words &quot;university senior-design project&quot; anywhere on the slide. Background: solid warm white #F8FAFC, no gradients, no photos, no decorative blobs, no drop shadows. Text color dark ink #1F2933; secondary labels gray #64748B; thin divider/borders #CBD5E1. Cards are white #FFFFFF rounded rectangles, 8px corners, 1.5px border. Use a modern sans-serif (Inter/Arial). Color meaning is FIXED across all slides: Orbis blue #2563A9 = system/backend/ database; teal #0F766E = AI/RAG/LLM; gold #B7791F = student-facing action/ notification; green #2F855A = accepted/correct/approved; red #B42318 = risk/ rejected/error; neutral gray #E2E8F0 = raw sources/data. Layout: a thin top title bar with the slide title on the top-left, a small &quot;Orbis | CMPE 492&quot; tag bottom-left, and the slide number bottom-right. Generous whitespace. Title ~36pt, body labels ≥20pt, big metric numbers bold. Reproduce all provided text EXACTLY; do not invent extra text, do not translate, do not change any number. Use clean line icons next to stages where they aid meaning (database, funnel, document, web page, PDF, shield/guardrail, router, brain/AI, bell, check, warning); icons support the labels, they never replace required text. Where a slide marks itself a &quot;detailed&quot; or &quot;showcase&quot; slide, density is intended — fill the canvas and show every stage rather than simplifying.&#10;&#10;NOTE: Dense data slide. Reproduce every number EXACTLY; do not round or drop. Dense evaluation slide for the submission-review subsystem. Arrange FOUR cards in a 2x2 grid. TOP-LEFT CARD (green heading &quot;Submission review&quot;, sublabel &quot;32 cases = 4 assignments × 8 strata&quot;): four big stats in a 2x2 mini-grid: &quot;93.8%&quot; label &quot;Accuracy&quot;, &quot;1.000&quot; label &quot;Recall&quot;, &quot;0.889&quot; label &quot;F1&quot;, &quot;0.800&quot; label &quot;Precision&quot;. Below them a tiny 2x2 confusion grid labeled &quot;Confusion (N=32, positive=approve)&quot;: top row &quot;Approve gold&quot; cells &quot;8 TP&quot; (green) and &quot;0 FN&quot; (green); bottom row &quot;Reject gold&quot; cells &quot;2 FP&quot; (red) and &quot;22 TN&quot;. Add a small green tag &quot;Zero false negatives — no genuine work rejected&quot;. TOP-RIGHT CARD (blue heading &quot;How we tested — 8 strata (4 each)&quot;): a two-column checklist; mark the green-correct ones &quot;4/4&quot; and the imperfect one in red. Rows (label — score): &quot;approve — 4/4&quot;, &quot;approve multi-file — 4/4&quot;, &quot;reject wrong content — 4/4&quot;, &quot;reject wrong extension — 4/4&quot;, &quot;reject empty — 4/4&quot;, &quot;reject corrupt — 4/4&quot;, &quot;reject injection — 4/4&quot;, &quot;flag partial — 2/4&quot; (this last one red). Tiny note: &quot;7 of 8 strata perfect&quot;. BOTTOM-LEFT CARD (blue heading &quot;Ablation — single-call → two-call agentic&quot;): a small before→after table, two metric rows: row &quot;Accuracy&quot;: &quot;0.781&quot; arrow &quot;0.938&quot; (green up-arrow on the after value); row &quot;Injection resistance&quot;: &quot;1/4&quot; arrow &quot;4/4&quot; (green up-arrow). Tiny note: &quot;two-call agent verifies each requirement, bypassing embedded instructions&quot;. BOTTOM-RIGHT CARD (red-bordered heading &quot;Prompt-injection resistance&quot;): one very large stat &quot;4 / 4&quot; label &quot;tested injection cases rejected&quot;, and below a gray caveat line &quot;Directional finding — not a general security guarantee&quot;. BOTTOM caption strip (≈18pt, dark ink, full width): &quot;Strong, safe screening; the only residual weakness is over-approving partial drafts (2/4)&quot;. Use RED only on: the &quot;2 FP&quot; confusion cell, the &quot;flag partial — 2/4&quot; row, and the injection card border." id="84" name="Google Shape;84;p19"/>
          <p:cNvPicPr preferRelativeResize="0"/>
          <p:nvPr/>
        </p:nvPicPr>
        <p:blipFill>
          <a:blip r:embed="rId3">
            <a:alphaModFix/>
          </a:blip>
          <a:stretch>
            <a:fillRect/>
          </a:stretch>
        </p:blipFill>
        <p:spPr>
          <a:xfrm>
            <a:off x="-35700" y="0"/>
            <a:ext cx="9210675" cy="51435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pic>
        <p:nvPicPr>
          <p:cNvPr descr="Create one 16:9 widescreen presentation slide, flat vector infographic style, clean and professional. This is a slide for the Orbis project (a university CMPE 492 senior-design system). IMPORTANT: the ONLY heading on the slide is the exact &quot;Title bar text&quot; given in the per-slide prompt — do NOT invent a title, do NOT use this description as a heading, do NOT write the words &quot;university senior-design project&quot; anywhere on the slide. Background: solid warm white #F8FAFC, no gradients, no photos, no decorative blobs, no drop shadows. Text color dark ink #1F2933; secondary labels gray #64748B; thin divider/borders #CBD5E1. Cards are white #FFFFFF rounded rectangles, 8px corners, 1.5px border. Use a modern sans-serif (Inter/Arial). Color meaning is FIXED across all slides: Orbis blue #2563A9 = system/backend/ database; teal #0F766E = AI/RAG/LLM; gold #B7791F = student-facing action/ notification; green #2F855A = accepted/correct/approved; red #B42318 = risk/ rejected/error; neutral gray #E2E8F0 = raw sources/data. Layout: a thin top title bar with the slide title on the top-left, a small &quot;Orbis | CMPE 492&quot; tag bottom-left, and the slide number bottom-right. Generous whitespace. Title ~36pt, body labels ≥20pt, big metric numbers bold. Reproduce all provided text EXACTLY; do not invent extra text, do not translate, do not change any number. Use clean line icons next to stages where they aid meaning (database, funnel, document, web page, PDF, shield/guardrail, router, brain/AI, bell, check, warning); icons support the labels, they never replace required text. Where a slide marks itself a &quot;detailed&quot; or &quot;showcase&quot; slide, density is intended — fill the canvas and show every stage rather than simplifying.&#10;&#10;Conclusion slide. TOP CENTER: one large banner line (≈30pt, dark ink with the key words colored): &quot;From static lookup to proactive, inspectable, measurable support&quot; (color &quot;proactive&quot; gold, &quot;inspectable&quot; blue, &quot;measurable&quot; green). MIDDLE: three short takeaway bullets (≈22pt) each with a green check icon: &quot;Three paths shipped: grounded search, proactive obligations, submission review&quot;, &quot;Boundaries kept: advisory not authoritative; screening not grading&quot;, &quot;Every subsystem is measurable — results point straight at the next work&quot;. BOTTOM: a thin divider, then a small &quot;Acknowledgments&quot; label and one line (≈18pt, gray): &quot;Supervisor Özgür Özdemir · Course coordinator Doç. Dr. Tuğba Dalyan · Istanbul Bilgi University&quot;." id="89" name="Google Shape;89;p20"/>
          <p:cNvPicPr preferRelativeResize="0"/>
          <p:nvPr/>
        </p:nvPicPr>
        <p:blipFill>
          <a:blip r:embed="rId3">
            <a:alphaModFix/>
          </a:blip>
          <a:stretch>
            <a:fillRect/>
          </a:stretch>
        </p:blipFill>
        <p:spPr>
          <a:xfrm>
            <a:off x="-35700" y="0"/>
            <a:ext cx="9210675" cy="51435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pic>
        <p:nvPicPr>
          <p:cNvPr descr="Create one 16:9 widescreen presentation slide, flat vector infographic style, clean and professional. This is a slide for the Orbis project (a university CMPE 492 senior-design system). IMPORTANT: the ONLY heading on the slide is the exact &quot;Title bar text&quot; given in the per-slide prompt — do NOT invent a title, do NOT use this description as a heading, do NOT write the words &quot;university senior-design project&quot; anywhere on the slide. Background: solid warm white #F8FAFC, no gradients, no photos, no decorative blobs, no drop shadows. Text color dark ink #1F2933; secondary labels gray #64748B; thin divider/borders #CBD5E1. Cards are white #FFFFFF rounded rectangles, 8px corners, 1.5px border. Use a modern sans-serif (Inter/Arial). Color meaning is FIXED across all slides: Orbis blue #2563A9 = system/backend/ database; teal #0F766E = AI/RAG/LLM; gold #B7791F = student-facing action/ notification; green #2F855A = accepted/correct/approved; red #B42318 = risk/ rejected/error; neutral gray #E2E8F0 = raw sources/data. Layout: a thin top title bar with the slide title on the top-left, a small &quot;Orbis | CMPE 492&quot; tag bottom-left, and the slide number bottom-right. Generous whitespace. Title ~36pt, body labels ≥20pt, big metric numbers bold. Reproduce all provided text EXACTLY; do not invent extra text, do not translate, do not change any number. Use clean line icons next to stages where they aid meaning (database, funnel, document, web page, PDF, shield/guardrail, router, brain/AI, bell, check, warning); icons support the labels, they never replace required text. Where a slide marks itself a &quot;detailed&quot; or &quot;showcase&quot; slide, density is intended — fill the canvas and show every stage rather than simplifying.&#10;&#10;Future-work slide. Four equal rounded cards in a 2x2 grid, each with a line icon, a bold heading (≈22pt) and one subtext line (≈18pt): Card 1 (gold) heading &quot;Improve matching recall&quot;, subtext &quot;Recall-oriented second pass on the weakest layer&quot;. Card 2 (blue) heading &quot;Live SIS integration&quot;, subtext &quot;Replace synthetic profiles with real academic state&quot;. Card 3 (green) heading &quot;Human review queue&quot;, subtext &quot;Explicit flag-for-review class for partial/suspect work&quot;. Card 4 (red) heading &quot;Broader safety testing&quot;, subtext &quot;Injection patterns beyond the tested cases&quot;. Keep the grid perfectly aligned, lots of whitespace, no extra text." id="94" name="Google Shape;94;p21"/>
          <p:cNvPicPr preferRelativeResize="0"/>
          <p:nvPr/>
        </p:nvPicPr>
        <p:blipFill>
          <a:blip r:embed="rId3">
            <a:alphaModFix/>
          </a:blip>
          <a:stretch>
            <a:fillRect/>
          </a:stretch>
        </p:blipFill>
        <p:spPr>
          <a:xfrm>
            <a:off x="-35700" y="0"/>
            <a:ext cx="9210675" cy="51435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pic>
        <p:nvPicPr>
          <p:cNvPr descr="Create one 16:9 widescreen presentation slide, flat vector infographic style, clean and professional. This is a slide for the Orbis project (a university CMPE 492 senior-design system). IMPORTANT: the ONLY heading on the slide is the exact &quot;Title bar text&quot; given in the per-slide prompt — do NOT invent a title, do NOT use this description as a heading, do NOT write the words &quot;university senior-design project&quot; anywhere on the slide. Background: solid warm white #F8FAFC, no gradients, no photos, no decorative blobs, no drop shadows. Text color dark ink #1F2933; secondary labels gray #64748B; thin divider/borders #CBD5E1. Cards are white #FFFFFF rounded rectangles, 8px corners, 1.5px border. Use a modern sans-serif (Inter/Arial). Color meaning is FIXED across all slides: Orbis blue #2563A9 = system/backend/ database; teal #0F766E = AI/RAG/LLM; gold #B7791F = student-facing action/ notification; green #2F855A = accepted/correct/approved; red #B42318 = risk/ rejected/error; neutral gray #E2E8F0 = raw sources/data. Layout: a thin top title bar with the slide title on the top-left, a small &quot;Orbis | CMPE 492&quot; tag bottom-left, and the slide number bottom-right. Generous whitespace. Title ~36pt, body labels ≥20pt, big metric numbers bold. Reproduce all provided text EXACTLY; do not invent extra text, do not translate, do not change any number. Use clean line icons next to stages where they aid meaning (database, funnel, document, web page, PDF, shield/guardrail, router, brain/AI, bell, check, warning); icons support the labels, they never replace required text. Where a slide marks itself a &quot;detailed&quot; or &quot;showcase&quot; slide, density is intended — fill the canvas and show every stage rather than simplifying.&#10;&#10;Demo storyboard slide. THREE numbered panels in a row, like a 3-frame storyboard, each a rounded card with a number badge, a heading, and a one-line caption (≈20pt): Panel 1 (teal, badge &quot;1&quot;) heading &quot;Ask&quot;, caption &quot;Natural-language question → grounded, cited answer&quot;. Panel 2 (gold, badge &quot;2&quot;) heading &quot;Obligation&quot;, caption &quot;Personalized rule appears in My Regulations with its source&quot;. Panel 3 (green, badge &quot;3&quot;) heading &quot;Submit&quot;, caption &quot;Upload checked against requirements, approve/reject with appeal&quot;. Connect the three panels with right-pointing arrows. BOTTOM CENTER: one large closing line (≈30pt, bold, dark ink): &quot;Proactive, inspectable, measurable academic support&quot;. Leave clean space; this slide fronts a live/recorded walkthrough." id="99" name="Google Shape;99;p22"/>
          <p:cNvPicPr preferRelativeResize="0"/>
          <p:nvPr/>
        </p:nvPicPr>
        <p:blipFill>
          <a:blip r:embed="rId3">
            <a:alphaModFix/>
          </a:blip>
          <a:stretch>
            <a:fillRect/>
          </a:stretch>
        </p:blipFill>
        <p:spPr>
          <a:xfrm>
            <a:off x="-35700" y="0"/>
            <a:ext cx="9210675" cy="51435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pic>
        <p:nvPicPr>
          <p:cNvPr id="104" name="Google Shape;104;p23" title="orbis-demo.mp4">
            <a:hlinkClick r:id="rId3"/>
          </p:cNvPr>
          <p:cNvPicPr preferRelativeResize="0"/>
          <p:nvPr>
            <a:videoFile r:link="rId100"/>
            <p:extLst>
              <p:ext uri="{DAA4B4D4-6D71-4841-9C94-3DE7FCFB9230}">
                <p14:media xmlns:p14="http://schemas.microsoft.com/office/powerpoint/2010/main" r:embed="rId101"/>
              </p:ext>
            </p:extLst>
          </p:nvPr>
        </p:nvPicPr>
        <p:blipFill>
          <a:blip r:embed="rId4">
            <a:alphaModFix/>
          </a:blip>
          <a:stretch>
            <a:fillRect/>
          </a:stretch>
        </p:blipFill>
        <p:spPr>
          <a:xfrm>
            <a:off x="0" y="0"/>
            <a:ext cx="9144000" cy="51435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
                                        </p:tgtEl>
                                        <p:attrNameLst>
                                          <p:attrName>style.visibility</p:attrName>
                                        </p:attrNameLst>
                                      </p:cBhvr>
                                      <p:to>
                                        <p:strVal val="visible"/>
                                      </p:to>
                                    </p:set>
                                    <p:animEffect filter="fade" transition="in">
                                      <p:cBhvr>
                                        <p:cTn dur="1000"/>
                                        <p:tgtEl>
                                          <p:spTgt spid="10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